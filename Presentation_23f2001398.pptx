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6" r:id="rId5"/>
    <p:sldId id="261" r:id="rId6"/>
    <p:sldId id="262" r:id="rId7"/>
    <p:sldId id="263" r:id="rId8"/>
    <p:sldId id="264" r:id="rId9"/>
    <p:sldId id="267" r:id="rId10"/>
  </p:sldIdLst>
  <p:sldSz cx="9144000" cy="5143500" type="screen16x9"/>
  <p:notesSz cx="6858000" cy="9144000"/>
  <p:embeddedFontLst>
    <p:embeddedFont>
      <p:font typeface="Century Schoolbook" panose="02040604050505020304" pitchFamily="18" charset="0"/>
      <p:regular r:id="rId12"/>
      <p:bold r:id="rId13"/>
      <p:italic r:id="rId14"/>
      <p:boldItalic r:id="rId15"/>
    </p:embeddedFont>
    <p:embeddedFont>
      <p:font typeface="Wingdings 2" panose="05020102010507070707" pitchFamily="18" charset="2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4" y="62"/>
      </p:cViewPr>
      <p:guideLst>
        <p:guide orient="horz" pos="16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5e16afd95_0_2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5e16afd95_0_2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720b99b0a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720b99b0a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D4EE0633-B071-B884-8B67-6DAB985CB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720b99b0a_0_278:notes">
            <a:extLst>
              <a:ext uri="{FF2B5EF4-FFF2-40B4-BE49-F238E27FC236}">
                <a16:creationId xmlns:a16="http://schemas.microsoft.com/office/drawing/2014/main" id="{AD6632B8-F03D-4DB8-7029-03CB6723D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720b99b0a_0_278:notes">
            <a:extLst>
              <a:ext uri="{FF2B5EF4-FFF2-40B4-BE49-F238E27FC236}">
                <a16:creationId xmlns:a16="http://schemas.microsoft.com/office/drawing/2014/main" id="{AAA6B38B-79DF-82C3-53FA-BD89C7093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347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5e16afd95_0_2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5e16afd95_0_2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5e16afd95_0_2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75e16afd95_0_2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5e16afd95_0_2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75e16afd95_0_2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5e16afd95_0_2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75e16afd95_0_2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F6A3F351-6F0E-8A87-A2FC-37BB925B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5e16afd95_0_2355:notes">
            <a:extLst>
              <a:ext uri="{FF2B5EF4-FFF2-40B4-BE49-F238E27FC236}">
                <a16:creationId xmlns:a16="http://schemas.microsoft.com/office/drawing/2014/main" id="{81F8F76C-BAA6-46C8-8948-F696AF747F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5e16afd95_0_2355:notes">
            <a:extLst>
              <a:ext uri="{FF2B5EF4-FFF2-40B4-BE49-F238E27FC236}">
                <a16:creationId xmlns:a16="http://schemas.microsoft.com/office/drawing/2014/main" id="{49540F95-03A7-FFBE-65A6-3D36FEF608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1101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29050"/>
            <a:ext cx="8469630" cy="1314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098157" y="748903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469506" y="3034903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anose="05020102010507070707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anose="05020102010507070707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anose="05020102010507070707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anose="05020102010507070707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15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anose="05020102010507070707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494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anose="05020102010507070707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4973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anose="05020102010507070707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155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anose="05020102010507070707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83942" y="575385"/>
            <a:ext cx="8159279" cy="11121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algn="ctr">
              <a:lnSpc>
                <a:spcPct val="100000"/>
              </a:lnSpc>
              <a:spcBef>
                <a:spcPts val="0"/>
              </a:spcBef>
            </a:pPr>
            <a:r>
              <a:rPr lang="en-US" sz="2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Gym Profitability by Optimizing Member Retention &amp; Acquisition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00603" y="2029522"/>
            <a:ext cx="7032000" cy="26219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BDM Capstone Project</a:t>
            </a:r>
            <a:endParaRPr sz="19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Submitted by:</a:t>
            </a: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73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73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73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NAME: </a:t>
            </a:r>
            <a:r>
              <a:rPr lang="en-US" altLang="en-GB" sz="17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Daksh</a:t>
            </a:r>
            <a:endParaRPr sz="173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4572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ROLL NO: 2</a:t>
            </a:r>
            <a:r>
              <a:rPr lang="en-US" altLang="en-GB" sz="17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3F2001398</a:t>
            </a:r>
            <a:endParaRPr sz="173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3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808604" y="147955"/>
            <a:ext cx="2970689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lnSpc>
                <a:spcPct val="11500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" panose="02020603050405020304" pitchFamily="18" charset="0"/>
                <a:ea typeface="Lexend Medium"/>
                <a:cs typeface="Times New Roman" panose="02020603050405020304" pitchFamily="18" charset="0"/>
                <a:sym typeface="Lexend Medium"/>
              </a:rPr>
              <a:t>Executive Summary</a:t>
            </a:r>
            <a:endParaRPr 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Lexend Medium"/>
              <a:cs typeface="Times New Roman" panose="02020603050405020304" pitchFamily="18" charset="0"/>
              <a:sym typeface="Lexend Medium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sz="half" idx="2"/>
          </p:nvPr>
        </p:nvSpPr>
        <p:spPr>
          <a:xfrm>
            <a:off x="578644" y="1702436"/>
            <a:ext cx="4943475" cy="29267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Char char="❏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 profitability of F4 Fitness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, a gym located in Pochanpur, Sector –23, Dwarka, Delhi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addressing member retention, acquisition, and overcrowding issues.</a:t>
            </a:r>
          </a:p>
          <a:p>
            <a:pPr marL="457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Char char="❏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retention, member acquisition, and managing peak hour overcrowding.</a:t>
            </a:r>
          </a:p>
          <a:p>
            <a:pPr marL="457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Char char="❏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profitability through actionable insights and recommendations.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2</a:t>
            </a:r>
          </a:p>
        </p:txBody>
      </p:sp>
      <p:pic>
        <p:nvPicPr>
          <p:cNvPr id="5" name="Content Placeholder 4" descr="f4fitness gym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84825" y="2023745"/>
            <a:ext cx="2740025" cy="14217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242469" y="1026795"/>
            <a:ext cx="1905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F4 Fitness Gym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605837" y="328612"/>
            <a:ext cx="7111500" cy="628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Overview</a:t>
            </a:r>
            <a:endParaRPr sz="2400" b="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763690" y="1321159"/>
            <a:ext cx="7616619" cy="30865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: 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 Data {Collected for a 1-month period (i.e. August).}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Behavior Data {Collected for a 1-month period (i.e. August).}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Distribution Data {Collected for 8 months period (i.e. Jan – August 2024).}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Overcrowding Data {Collected for a 1-month period (i.e. August).}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Data Cleaning 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has been cleaned to ensure the exactness and stability of the analysis because the record was not maintained properly.</a:t>
            </a: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Tools: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charts, pie charts, column charts for visualization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58DA35-4BC4-7720-8911-F6DBB8DE2D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671542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fld id="{00000000-1234-1234-1234-123412341234}" type="slidenum">
              <a:rPr lang="en-GB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3">
          <a:extLst>
            <a:ext uri="{FF2B5EF4-FFF2-40B4-BE49-F238E27FC236}">
              <a16:creationId xmlns:a16="http://schemas.microsoft.com/office/drawing/2014/main" id="{131C41B7-08B4-1BAB-D990-09DCD3659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8B1CAE5B-B62C-7D05-7E0E-42482D2631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837" y="328612"/>
            <a:ext cx="7111500" cy="628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 Membership Trends</a:t>
            </a:r>
            <a:endParaRPr sz="24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6487C127-EA79-CAFE-B334-41004F2B0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9365" y="1132067"/>
            <a:ext cx="5837135" cy="24040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memberships are the most preferred but have a high dropout rate.</a:t>
            </a: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and quarterly memberships show higher retention.</a:t>
            </a:r>
          </a:p>
          <a:p>
            <a:pPr marL="285750" indent="-28575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(Jan-Aug): INR 11,61,600.</a:t>
            </a:r>
            <a:endParaRPr lang="en-US" sz="1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7A062B-3531-13F8-9FF7-00EE6CE29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847" y="2445325"/>
            <a:ext cx="4546864" cy="240408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309A6C-D8AB-7FE6-77AD-B2E0ECC8E8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671542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6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9209F2D-C13C-E4CE-983D-B981BE7C0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94" y="91712"/>
            <a:ext cx="8246512" cy="686957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 Overcrowding Patterns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1D5B683-D648-DB97-9B35-C26A9E9D5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99" y="1073392"/>
            <a:ext cx="8342007" cy="3498607"/>
          </a:xfrm>
        </p:spPr>
        <p:txBody>
          <a:bodyPr>
            <a:normAutofit/>
          </a:bodyPr>
          <a:lstStyle/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Hours: 6 AM - 9 AM and 6 PM - 9 PM.</a:t>
            </a:r>
          </a:p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Off-Peak Hours: 4 AM - 6 AM, 9 AM - 10 AM, 4 PM - 6 PM, 9 PM - 10 PM.</a:t>
            </a:r>
          </a:p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Overcrowding leads to higher equipment waiting times and dropouts.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3309BE-C895-1471-591C-1D9FDA9E2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433" y="2882793"/>
            <a:ext cx="3765473" cy="22100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BD2801-0381-09DA-5873-02AA03EDDEB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671542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15C6A3-97C5-FEDE-7D54-D54EE48D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163"/>
            <a:ext cx="8429625" cy="851262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 Gender Distribution &amp; Monthly Trends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4BB20B-661C-4316-6043-86BEC8FA1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71588"/>
            <a:ext cx="8429625" cy="3743324"/>
          </a:xfrm>
        </p:spPr>
        <p:txBody>
          <a:bodyPr>
            <a:normAutofit/>
          </a:bodyPr>
          <a:lstStyle/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members consistently outnumber female members (Jan-Aug).</a:t>
            </a:r>
          </a:p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increases in March, June, and July due to school/college vacations.</a:t>
            </a:r>
          </a:p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Declines observed in April-May due to reopening of institutions.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726367-3F70-96AF-BF45-63C152A59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409" y="2889756"/>
            <a:ext cx="3565060" cy="21894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5219B-9E67-9934-2A2B-7F336A86B9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671542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ED969-9A31-6170-3399-4B838C13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87" y="177438"/>
            <a:ext cx="8217938" cy="865550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of Results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23EBB1-2DB8-C6B3-CA4B-8BDEC29F1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386" y="1243013"/>
            <a:ext cx="8310807" cy="3829049"/>
          </a:xfrm>
        </p:spPr>
        <p:txBody>
          <a:bodyPr anchor="t">
            <a:normAutofit/>
          </a:bodyPr>
          <a:lstStyle/>
          <a:p>
            <a:pPr algn="l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memberships cater to short-term goals, causing higher dropout rates.</a:t>
            </a:r>
          </a:p>
          <a:p>
            <a:pPr algn="l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Overcrowding during peak hours reduces member satisfaction.</a:t>
            </a:r>
          </a:p>
          <a:p>
            <a:pPr algn="l">
              <a:lnSpc>
                <a:spcPct val="3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imbalance indicates untapped potential in female memberships.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56374E-31CF-14E4-DCA3-D30E1B98EC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671542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0C55015-5DA3-C57E-64BC-6E51A39E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07" y="78300"/>
            <a:ext cx="8067919" cy="612175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 Retention &amp; Acquisition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D7B4C5-49DC-5F49-6BA3-1B93154AE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791" y="1359144"/>
            <a:ext cx="8294260" cy="3627194"/>
          </a:xfrm>
        </p:spPr>
        <p:txBody>
          <a:bodyPr>
            <a:normAutofit/>
          </a:bodyPr>
          <a:lstStyle/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programs for monthly members.</a:t>
            </a:r>
          </a:p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promotions targeting students (March, June, July).</a:t>
            </a:r>
          </a:p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membership options (e.g., pay-per-visit).</a:t>
            </a:r>
          </a:p>
          <a:p>
            <a:pPr algn="l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trial periods and health workshops for new members.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7B9D12-300A-7AFD-C012-03DF1CDBA2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671542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5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GB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6">
          <a:extLst>
            <a:ext uri="{FF2B5EF4-FFF2-40B4-BE49-F238E27FC236}">
              <a16:creationId xmlns:a16="http://schemas.microsoft.com/office/drawing/2014/main" id="{5F46505E-177F-B32B-2799-512524A2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3451C6-6DB2-BFC5-AAAD-04E8F69B3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3" y="342900"/>
            <a:ext cx="7399497" cy="3521869"/>
          </a:xfrm>
        </p:spPr>
        <p:txBody>
          <a:bodyPr>
            <a:no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C86CCD-6575-7ECC-4AE6-9FC26418E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8471586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148</TotalTime>
  <Words>418</Words>
  <Application>Microsoft Office PowerPoint</Application>
  <PresentationFormat>On-screen Show (16:9)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Century Schoolbook</vt:lpstr>
      <vt:lpstr>Arial</vt:lpstr>
      <vt:lpstr>Wingdings</vt:lpstr>
      <vt:lpstr>Wingdings 2</vt:lpstr>
      <vt:lpstr>Times New Roman</vt:lpstr>
      <vt:lpstr>View</vt:lpstr>
      <vt:lpstr>Enhancing Gym Profitability by Optimizing Member Retention &amp; Acquisition</vt:lpstr>
      <vt:lpstr>Executive Summary</vt:lpstr>
      <vt:lpstr>Data Analysis Overview</vt:lpstr>
      <vt:lpstr>Key Findings: Membership Trends</vt:lpstr>
      <vt:lpstr>Key Findings: Overcrowding Patterns</vt:lpstr>
      <vt:lpstr>Key Findings: Gender Distribution &amp; Monthly Trends</vt:lpstr>
      <vt:lpstr>Interpretation of Results</vt:lpstr>
      <vt:lpstr>Recommendations: Retention &amp; Acquisition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 VIDYA TRADERS    Coconut Exporters,     Ambajipeta(A.P.)</dc:title>
  <dc:creator>Daksh ◉‿◉</dc:creator>
  <cp:lastModifiedBy>Daksh ◉‿◉</cp:lastModifiedBy>
  <cp:revision>28</cp:revision>
  <dcterms:created xsi:type="dcterms:W3CDTF">2024-12-15T06:35:10Z</dcterms:created>
  <dcterms:modified xsi:type="dcterms:W3CDTF">2024-12-26T06:54:56Z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367DAA5534A14461B965C1CC2422B0D6_12</vt:lpwstr>
  </property>
  <property fmtid="{D5CDD505-2E9C-101B-9397-08002B2CF9AE}" pid="3" name="KSOProductBuildVer">
    <vt:lpwstr>2057-12.2.0.18639</vt:lpwstr>
  </property>
</Properties>
</file>